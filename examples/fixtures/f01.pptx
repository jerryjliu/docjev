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115800fe414383" /><Relationship Type="http://schemas.openxmlformats.org/officeDocument/2006/relationships/extended-properties" Target="/docProps/app.xml" Id="R19b9c5d347c8450b" /><Relationship Type="http://schemas.openxmlformats.org/officeDocument/2006/relationships/officeDocument" Target="/ppt/presentation.xml" Id="Rbee243c5827f49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434112cd304fbd"/>
  </p:sldMasterIdLst>
  <p:notesMasterIdLst>
    <p:notesMasterId xmlns:r="http://schemas.openxmlformats.org/officeDocument/2006/relationships" r:id="Recfdae419bd44707"/>
  </p:notesMasterIdLst>
  <p:sldIdLst>
    <p:sldId xmlns:r="http://schemas.openxmlformats.org/officeDocument/2006/relationships" id="256" r:id="Rf7bee453fad446f8"/>
    <p:sldId xmlns:r="http://schemas.openxmlformats.org/officeDocument/2006/relationships" id="257" r:id="Rae2642dbca394ca0"/>
    <p:sldId xmlns:r="http://schemas.openxmlformats.org/officeDocument/2006/relationships" id="258" r:id="Rdea515ee2cb445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4182067cd34e65" /><Relationship Type="http://schemas.openxmlformats.org/officeDocument/2006/relationships/slideMaster" Target="/ppt/slideMasters/slideMaster1.xml" Id="R3e434112cd304fbd" /><Relationship Type="http://schemas.openxmlformats.org/officeDocument/2006/relationships/notesMaster" Target="/ppt/notesMasters/notesMaster1.xml" Id="Recfdae419bd44707" /><Relationship Type="http://schemas.openxmlformats.org/officeDocument/2006/relationships/presProps" Target="/ppt/presProps.xml" Id="R97fc68cbdc9e41c0" /><Relationship Type="http://schemas.openxmlformats.org/officeDocument/2006/relationships/tableStyles" Target="/ppt/tableStyles.xml" Id="Ref9568f6b3164fdd" /><Relationship Type="http://schemas.openxmlformats.org/officeDocument/2006/relationships/slide" Target="/ppt/slides/slide1.xml" Id="Rf7bee453fad446f8" /><Relationship Type="http://schemas.openxmlformats.org/officeDocument/2006/relationships/slide" Target="/ppt/slides/slide2.xml" Id="Rae2642dbca394ca0" /><Relationship Type="http://schemas.openxmlformats.org/officeDocument/2006/relationships/slide" Target="/ppt/slides/slide3.xml" Id="Rdea515ee2cb445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cd3f39f75a4e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09a7e11cfc4a2c" /><Relationship Type="http://schemas.openxmlformats.org/officeDocument/2006/relationships/notesMaster" Target="/ppt/notesMasters/notesMaster1.xml" Id="R67371b8914934b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c1844369544382" /><Relationship Type="http://schemas.openxmlformats.org/officeDocument/2006/relationships/notesMaster" Target="/ppt/notesMasters/notesMaster1.xml" Id="R594ea5d2ee1447b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81e5a93f0048af" /><Relationship Type="http://schemas.openxmlformats.org/officeDocument/2006/relationships/notesMaster" Target="/ppt/notesMasters/notesMaster1.xml" Id="R1e12e9d7ac2841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First-party synthetic document for testing document classification. The company, customers, financial figures and fundraising request are fictional. Visual direction: https://www.llamaindex.ai/brand. This is a source document, not a product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First-party synthetic document for testing document classification. The company, customers, financial figures and fundraising request are fictional. Visual direction: https://www.llamaindex.ai/brand. This is a source document, not a product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First-party synthetic document for testing document classification. The company, customers, financial figures and fundraising request are fictional. Visual direction: https://www.llamaindex.ai/brand. This is a source document, not a product performance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c1395eab4449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6d91033da54136" /><Relationship Type="http://schemas.openxmlformats.org/officeDocument/2006/relationships/slideLayout" Target="/ppt/slideLayouts/slideLayout1.xml" Id="R500bbbee159046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00bbbee159046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3f9760f1c4beb" /><Relationship Type="http://schemas.openxmlformats.org/officeDocument/2006/relationships/notesSlide" Target="/ppt/notesSlides/notesSlide1.xml" Id="R8027b82164c242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8af2082ea44e06" /><Relationship Type="http://schemas.openxmlformats.org/officeDocument/2006/relationships/notesSlide" Target="/ppt/notesSlides/notesSlide2.xml" Id="R8540817031b44e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70b0227984a2d" /><Relationship Type="http://schemas.openxmlformats.org/officeDocument/2006/relationships/notesSlide" Target="/ppt/notesSlides/notesSlide3.xml" Id="R4f177bc8e08347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3E18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11A31-AD22-4374-B12C-AE77E46A8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350" b="0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rPr>
              <a:t>NORTH FERN / FICTIONAL COMPANY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E0B36D-FCDA-45D6-8E0F-A6368E5C2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050" b="0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rPr>
              <a:t>SYNTHETIC EXAMPLE / ALL FIGURES ARE FICTIONAL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289CF1-0BE2-4ED7-A247-6EB70186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275" b="0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AA487-81B6-489C-8789-818DC3D3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1047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4800" b="1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rPr>
              <a:t>Equipment maintenance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4800" b="1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rPr>
              <a:t>for independent teams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F7C9DB-24B4-4DB4-B66D-9451164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004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2250" b="0">
                <a:solidFill>
                  <a:srgbClr val="FFFFFF"/>
                </a:solidFill>
                <a:latin typeface="Overused Grotesk"/>
                <a:ea typeface="Overused Grotesk"/>
                <a:cs typeface="Overused Grotesk"/>
              </a:rPr>
              <a:t>Seed investor presentation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9155EE-F521-4C6A-B8F9-431AA3098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8572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7D7FA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500" b="0">
                <a:solidFill>
                  <a:srgbClr val="37D7FA"/>
                </a:solidFill>
                <a:latin typeface="Overused Grotesk"/>
                <a:ea typeface="Overused Grotesk"/>
                <a:cs typeface="Overused Grotesk"/>
              </a:rPr>
              <a:t>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1648420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573C06-8A13-492D-83F7-352A4C4A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E18F9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350" b="0">
                <a:solidFill>
                  <a:srgbClr val="3E18F9"/>
                </a:solidFill>
                <a:latin typeface="Overused Grotesk"/>
                <a:ea typeface="Overused Grotesk"/>
                <a:cs typeface="Overused Grotesk"/>
              </a:rPr>
              <a:t>NORTH FERN / FICTIONAL COMPANY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D2FB9-6372-4A56-B731-A3128705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37373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050" b="0">
                <a:solidFill>
                  <a:srgbClr val="737373"/>
                </a:solidFill>
                <a:latin typeface="Overused Grotesk"/>
                <a:ea typeface="Overused Grotesk"/>
                <a:cs typeface="Overused Grotesk"/>
              </a:rPr>
              <a:t>SYNTHETIC EXAMPLE / ALL FIGURES ARE FICTIONAL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312DB6-FD9A-4C7C-841A-54132D29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373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275" b="0">
                <a:solidFill>
                  <a:srgbClr val="737373"/>
                </a:solidFill>
                <a:latin typeface="Overused Grotesk"/>
                <a:ea typeface="Overused Grotesk"/>
                <a:cs typeface="Overused Grotesk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6C3D7-A015-4BD6-802A-9054E8F3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1066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3675" b="1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rPr>
              <a:t>A shared maintenance record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101717-8A40-4B8A-A28B-B29D6AFD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9525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2325" b="0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rPr>
              <a:t>Service teams lose time reconstructing equipment history from scattered spreadsheets.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2FF9A-BC4F-439D-8EC3-B8B1FFCA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9525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2325" b="0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rPr>
              <a:t>North Fern combines service logs and maintenance schedules in one subscription product.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D96777-C627-4681-82F5-716B2924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3E18F9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875" b="0">
                <a:solidFill>
                  <a:srgbClr val="3E18F9"/>
                </a:solidFill>
                <a:latin typeface="Overused Grotesk"/>
                <a:ea typeface="Overused Grotesk"/>
                <a:cs typeface="Overused Grotesk"/>
              </a:rPr>
              <a:t>Illustrative annual price: $12,000 per team</a:t>
            </a:r>
          </a:p>
        </p:txBody>
      </p:sp>
    </p:spTree>
    <p:extLst>
      <p:ext uri="{BB962C8B-B14F-4D97-AF65-F5344CB8AC3E}">
        <p14:creationId xmlns:p14="http://schemas.microsoft.com/office/powerpoint/2010/main" val="6519887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2FCFC8-B195-4C73-A7EB-0D88A07D4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3E18F9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350" b="0">
                <a:solidFill>
                  <a:srgbClr val="3E18F9"/>
                </a:solidFill>
                <a:latin typeface="Overused Grotesk"/>
                <a:ea typeface="Overused Grotesk"/>
                <a:cs typeface="Overused Grotesk"/>
              </a:rPr>
              <a:t>NORTH FERN / FICTIONAL COMPANY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5DBBE3-85C8-43D8-83F7-B9FA8261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76975"/>
            <a:ext cx="962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737373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050" b="0">
                <a:solidFill>
                  <a:srgbClr val="737373"/>
                </a:solidFill>
                <a:latin typeface="Overused Grotesk"/>
                <a:ea typeface="Overused Grotesk"/>
                <a:cs typeface="Overused Grotesk"/>
              </a:rPr>
              <a:t>SYNTHETIC EXAMPLE / ALL FIGURES ARE FICTIONAL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DE550F-3C3F-48C8-9285-71C39C16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2484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37373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275" b="0">
                <a:solidFill>
                  <a:srgbClr val="737373"/>
                </a:solidFill>
                <a:latin typeface="Overused Grotesk"/>
                <a:ea typeface="Overused Grotesk"/>
                <a:cs typeface="Overused Grotesk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04549-61F8-40A8-8EB9-18B7962F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1066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3675" b="1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rPr>
              <a:t>Seed financing plan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02E063-1532-4F1F-BDB1-D48C502D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3E18F9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5700" b="1">
                <a:solidFill>
                  <a:srgbClr val="3E18F9"/>
                </a:solidFill>
                <a:latin typeface="Overused Grotesk"/>
                <a:ea typeface="Overused Grotesk"/>
                <a:cs typeface="Overused Grotesk"/>
              </a:rPr>
              <a:t>$2 million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D3E663-F62A-4E96-BF77-BEEBDC972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950" b="0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rPr>
              <a:t>Illustrative capital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A26A73-4821-4C23-B21A-CE21A199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102870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2250" b="0">
                <a:solidFill>
                  <a:srgbClr val="000000"/>
                </a:solidFill>
                <a:latin typeface="Overused Grotesk"/>
                <a:ea typeface="Overused Grotesk"/>
                <a:cs typeface="Overused Grotesk"/>
              </a:rPr>
              <a:t>Fund twelve months of product development and a small paid pilot with service firms managing 50 to 500 assets.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05F58-C583-4ACC-AE1F-264DF8FD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737373"/>
                </a:solidFill>
                <a:latin typeface="Overused Grotesk"/>
                <a:ea typeface="Overused Grotesk"/>
                <a:cs typeface="Overused Grotesk"/>
              </a:defRPr>
            </a:pPr>
            <a:r>
              <a:rPr sz="1800" b="0">
                <a:solidFill>
                  <a:srgbClr val="737373"/>
                </a:solidFill>
                <a:latin typeface="Overused Grotesk"/>
                <a:ea typeface="Overused Grotesk"/>
                <a:cs typeface="Overused Grotesk"/>
              </a:rPr>
              <a:t>Founding team: field operations and software engineering</a:t>
            </a:r>
          </a:p>
        </p:txBody>
      </p:sp>
    </p:spTree>
    <p:extLst>
      <p:ext uri="{BB962C8B-B14F-4D97-AF65-F5344CB8AC3E}">
        <p14:creationId xmlns:p14="http://schemas.microsoft.com/office/powerpoint/2010/main" val="20056921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2026-09-19T06:52:39.7700000Z</dcterms:created>
  <dcterms:modified xsi:type="dcterms:W3CDTF">2026-09-19T06:52:39.7700000Z</dcterms:modified>
</coreProperties>
</file>